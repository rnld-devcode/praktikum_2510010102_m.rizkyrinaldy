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2" r:id="rId5"/>
    <p:sldId id="359" r:id="rId6"/>
    <p:sldId id="373" r:id="rId7"/>
    <p:sldId id="374" r:id="rId8"/>
    <p:sldId id="365" r:id="rId9"/>
    <p:sldId id="376" r:id="rId10"/>
    <p:sldId id="382" r:id="rId11"/>
    <p:sldId id="377" r:id="rId12"/>
    <p:sldId id="383" r:id="rId13"/>
    <p:sldId id="379" r:id="rId14"/>
    <p:sldId id="3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>
        <p:scale>
          <a:sx n="33" d="100"/>
          <a:sy n="33" d="100"/>
        </p:scale>
        <p:origin x="312" y="8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1398-7D37-801B-C115-7DEF8760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75958-D270-B5F4-EB24-3E22274CD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D83A4-2DB7-C5E5-1E4E-358FBA6F0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8C74A-725D-00A2-D921-54379FD66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829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BAE5-4F60-150A-5769-FFB01D85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51A58-5C2C-2111-82B2-F14F1EB29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EB517-66B4-075A-1EE4-CE71D2397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406A2-C797-57DA-6F04-CF105E11C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734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Logika Percabangan</a:t>
            </a:r>
            <a:br>
              <a:rPr lang="en-US" dirty="0"/>
            </a:br>
            <a:r>
              <a:rPr lang="en-US" dirty="0"/>
              <a:t>Dan </a:t>
            </a:r>
            <a:r>
              <a:rPr lang="en-US" dirty="0" err="1"/>
              <a:t>perulangan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2510010102</a:t>
            </a:r>
          </a:p>
          <a:p>
            <a:r>
              <a:rPr lang="en-US" dirty="0"/>
              <a:t>M. RIZKY RINALDY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anchor="b">
            <a:normAutofit/>
          </a:bodyPr>
          <a:lstStyle/>
          <a:p>
            <a:r>
              <a:rPr lang="en-US" b="1" dirty="0"/>
              <a:t>Apa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Struktur</a:t>
            </a:r>
            <a:r>
              <a:rPr lang="en-US" b="1" dirty="0"/>
              <a:t> IF?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 err="1"/>
              <a:t>Poin</a:t>
            </a:r>
            <a:r>
              <a:rPr lang="en-US" sz="1500" b="1"/>
              <a:t> Utama:</a:t>
            </a:r>
            <a:endParaRPr lang="en-US" sz="1500"/>
          </a:p>
          <a:p>
            <a:pPr lvl="1">
              <a:lnSpc>
                <a:spcPct val="110000"/>
              </a:lnSpc>
            </a:pPr>
            <a:r>
              <a:rPr lang="en-US" sz="1500" err="1"/>
              <a:t>Mekanisme</a:t>
            </a:r>
            <a:r>
              <a:rPr lang="en-US" sz="1500"/>
              <a:t> </a:t>
            </a:r>
            <a:r>
              <a:rPr lang="en-US" sz="1500" err="1"/>
              <a:t>pengambilan</a:t>
            </a:r>
            <a:r>
              <a:rPr lang="en-US" sz="1500"/>
              <a:t> </a:t>
            </a:r>
            <a:r>
              <a:rPr lang="en-US" sz="1500" err="1"/>
              <a:t>keputusan</a:t>
            </a:r>
            <a:r>
              <a:rPr lang="en-US" sz="1500"/>
              <a:t> </a:t>
            </a:r>
            <a:r>
              <a:rPr lang="en-US" sz="1500" err="1"/>
              <a:t>dalam</a:t>
            </a:r>
            <a:r>
              <a:rPr lang="en-US" sz="1500"/>
              <a:t> </a:t>
            </a:r>
            <a:r>
              <a:rPr lang="en-US" sz="1500" err="1"/>
              <a:t>kode</a:t>
            </a:r>
            <a:r>
              <a:rPr lang="en-US" sz="1500"/>
              <a:t>.</a:t>
            </a:r>
          </a:p>
          <a:p>
            <a:pPr lvl="1">
              <a:lnSpc>
                <a:spcPct val="110000"/>
              </a:lnSpc>
            </a:pPr>
            <a:r>
              <a:rPr lang="en-US" sz="1500" err="1"/>
              <a:t>Mengontrol</a:t>
            </a:r>
            <a:r>
              <a:rPr lang="en-US" sz="1500"/>
              <a:t> </a:t>
            </a:r>
            <a:r>
              <a:rPr lang="en-US" sz="1500" err="1"/>
              <a:t>alur</a:t>
            </a:r>
            <a:r>
              <a:rPr lang="en-US" sz="1500"/>
              <a:t> program </a:t>
            </a:r>
            <a:r>
              <a:rPr lang="en-US" sz="1500" err="1"/>
              <a:t>berdasarkan</a:t>
            </a:r>
            <a:r>
              <a:rPr lang="en-US" sz="1500"/>
              <a:t> </a:t>
            </a:r>
            <a:r>
              <a:rPr lang="en-US" sz="1500" err="1"/>
              <a:t>kondisi</a:t>
            </a:r>
            <a:r>
              <a:rPr lang="en-US" sz="1500"/>
              <a:t> (</a:t>
            </a:r>
            <a:r>
              <a:rPr lang="en-US" sz="1500" err="1"/>
              <a:t>Benar</a:t>
            </a:r>
            <a:r>
              <a:rPr lang="en-US" sz="1500"/>
              <a:t>/Salah).</a:t>
            </a:r>
          </a:p>
          <a:p>
            <a:pPr>
              <a:lnSpc>
                <a:spcPct val="110000"/>
              </a:lnSpc>
            </a:pPr>
            <a:r>
              <a:rPr lang="en-US" sz="1500" b="1" err="1"/>
              <a:t>Analogi</a:t>
            </a:r>
            <a:r>
              <a:rPr lang="en-US" sz="1500" b="1"/>
              <a:t>:</a:t>
            </a:r>
            <a:r>
              <a:rPr lang="en-US" sz="1500"/>
              <a:t> "Jika </a:t>
            </a:r>
            <a:r>
              <a:rPr lang="en-US" sz="1500" err="1"/>
              <a:t>hari</a:t>
            </a:r>
            <a:r>
              <a:rPr lang="en-US" sz="1500"/>
              <a:t> </a:t>
            </a:r>
            <a:r>
              <a:rPr lang="en-US" sz="1500" err="1"/>
              <a:t>hujan</a:t>
            </a:r>
            <a:r>
              <a:rPr lang="en-US" sz="1500"/>
              <a:t>, </a:t>
            </a:r>
            <a:r>
              <a:rPr lang="en-US" sz="1500" err="1"/>
              <a:t>saya</a:t>
            </a:r>
            <a:r>
              <a:rPr lang="en-US" sz="1500"/>
              <a:t> </a:t>
            </a:r>
            <a:r>
              <a:rPr lang="en-US" sz="1500" err="1"/>
              <a:t>membawa</a:t>
            </a:r>
            <a:r>
              <a:rPr lang="en-US" sz="1500"/>
              <a:t> </a:t>
            </a:r>
            <a:r>
              <a:rPr lang="en-US" sz="1500" err="1"/>
              <a:t>payung</a:t>
            </a:r>
            <a:r>
              <a:rPr lang="en-US" sz="1500"/>
              <a:t>. Jika </a:t>
            </a:r>
            <a:r>
              <a:rPr lang="en-US" sz="1500" err="1"/>
              <a:t>tidak</a:t>
            </a:r>
            <a:r>
              <a:rPr lang="en-US" sz="1500"/>
              <a:t>, </a:t>
            </a:r>
            <a:r>
              <a:rPr lang="en-US" sz="1500" err="1"/>
              <a:t>saya</a:t>
            </a:r>
            <a:r>
              <a:rPr lang="en-US" sz="1500"/>
              <a:t> </a:t>
            </a:r>
            <a:r>
              <a:rPr lang="en-US" sz="1500" err="1"/>
              <a:t>tidak</a:t>
            </a:r>
            <a:r>
              <a:rPr lang="en-US" sz="1500"/>
              <a:t> </a:t>
            </a:r>
            <a:r>
              <a:rPr lang="en-US" sz="1500" err="1"/>
              <a:t>membawanya</a:t>
            </a:r>
            <a:r>
              <a:rPr lang="en-US" sz="1500"/>
              <a:t>."</a:t>
            </a:r>
          </a:p>
          <a:p>
            <a:pPr>
              <a:lnSpc>
                <a:spcPct val="110000"/>
              </a:lnSpc>
            </a:pPr>
            <a:br>
              <a:rPr lang="en-US" sz="1500"/>
            </a:br>
            <a:endParaRPr lang="en-US" sz="1500"/>
          </a:p>
          <a:p>
            <a:pPr>
              <a:lnSpc>
                <a:spcPct val="110000"/>
              </a:lnSpc>
            </a:pPr>
            <a:br>
              <a:rPr lang="en-US" sz="1500"/>
            </a:br>
            <a:endParaRPr lang="en-US" sz="1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48C03-23EF-3909-4FEA-9C21E822A8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07" b="10789"/>
          <a:stretch>
            <a:fillRect/>
          </a:stretch>
        </p:blipFill>
        <p:spPr>
          <a:xfrm>
            <a:off x="6995159" y="2474811"/>
            <a:ext cx="4227332" cy="3528397"/>
          </a:xfrm>
          <a:prstGeom prst="rect">
            <a:avLst/>
          </a:prstGeom>
          <a:noFill/>
        </p:spPr>
      </p:pic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A2E69A83-8BD3-D6B1-95C2-DAD0E799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tindakan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b="1" dirty="0"/>
              <a:t>IF Tunggal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b="1" dirty="0" err="1"/>
              <a:t>Struktur</a:t>
            </a:r>
            <a:r>
              <a:rPr lang="en-US" dirty="0"/>
              <a:t> if </a:t>
            </a:r>
            <a:r>
              <a:rPr lang="en-US" dirty="0" err="1"/>
              <a:t>tunggal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D48C9E-7EBF-40EB-08BB-987BC9506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7" r="25068"/>
          <a:stretch>
            <a:fillRect/>
          </a:stretch>
        </p:blipFill>
        <p:spPr>
          <a:xfrm>
            <a:off x="307829" y="2798933"/>
            <a:ext cx="8084331" cy="3427265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>
            <a:normAutofit/>
          </a:bodyPr>
          <a:lstStyle/>
          <a:p>
            <a:r>
              <a:rPr lang="en-US" b="1" dirty="0"/>
              <a:t>(Pseudo-code):</a:t>
            </a:r>
          </a:p>
          <a:p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belanja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100rb. Jika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program diam.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b="1" dirty="0"/>
              <a:t>IF Ganda (IF - ELSE)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dua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alternatif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b="1" dirty="0"/>
              <a:t>IF Ganda (IF - ELSE)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3113924-800F-F159-CDD6-8DF0688FA3C9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rcRect l="59144" t="38537" r="3637" b="8358"/>
          <a:stretch>
            <a:fillRect/>
          </a:stretch>
        </p:blipFill>
        <p:spPr>
          <a:xfrm>
            <a:off x="1180349" y="2072178"/>
            <a:ext cx="6379972" cy="4519145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>
            <a:normAutofit/>
          </a:bodyPr>
          <a:lstStyle/>
          <a:p>
            <a:r>
              <a:rPr lang="en-US" b="1" dirty="0"/>
              <a:t>Logika:</a:t>
            </a:r>
            <a:r>
              <a:rPr lang="en-US" dirty="0"/>
              <a:t> Jika </a:t>
            </a:r>
            <a:r>
              <a:rPr lang="en-US" dirty="0" err="1"/>
              <a:t>kondisi</a:t>
            </a:r>
            <a:r>
              <a:rPr lang="en-US" dirty="0"/>
              <a:t> </a:t>
            </a:r>
            <a:r>
              <a:rPr lang="en-US" b="1" dirty="0"/>
              <a:t>A</a:t>
            </a:r>
            <a:r>
              <a:rPr lang="en-US" dirty="0"/>
              <a:t> 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lakukan</a:t>
            </a:r>
            <a:r>
              <a:rPr lang="en-US" dirty="0"/>
              <a:t> </a:t>
            </a:r>
            <a:r>
              <a:rPr lang="en-US" b="1" dirty="0"/>
              <a:t>X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salah (else) </a:t>
            </a:r>
            <a:r>
              <a:rPr lang="en-US" dirty="0" err="1"/>
              <a:t>lakukan</a:t>
            </a:r>
            <a:r>
              <a:rPr lang="en-US" dirty="0"/>
              <a:t> </a:t>
            </a:r>
            <a:r>
              <a:rPr lang="en-US" b="1" dirty="0"/>
              <a:t>Y</a:t>
            </a:r>
            <a:r>
              <a:rPr lang="en-US" dirty="0"/>
              <a:t>.</a:t>
            </a:r>
          </a:p>
          <a:p>
            <a:r>
              <a:rPr lang="en-US" b="1" dirty="0" err="1"/>
              <a:t>Contoh</a:t>
            </a:r>
            <a:r>
              <a:rPr lang="en-US" b="1" dirty="0"/>
              <a:t>:</a:t>
            </a:r>
            <a:r>
              <a:rPr lang="en-US" dirty="0"/>
              <a:t> Cek </a:t>
            </a:r>
            <a:r>
              <a:rPr lang="en-US" dirty="0" err="1"/>
              <a:t>Umur</a:t>
            </a:r>
            <a:r>
              <a:rPr lang="en-US" dirty="0"/>
              <a:t>;</a:t>
            </a:r>
            <a:endParaRPr lang="en-US" sz="1600" dirty="0"/>
          </a:p>
          <a:p>
            <a:r>
              <a:rPr lang="en-US" sz="1600" dirty="0"/>
              <a:t>        Jika </a:t>
            </a:r>
            <a:r>
              <a:rPr lang="en-US" sz="1600" dirty="0" err="1"/>
              <a:t>Umur</a:t>
            </a:r>
            <a:r>
              <a:rPr lang="en-US" sz="1600" dirty="0"/>
              <a:t> </a:t>
            </a:r>
            <a:r>
              <a:rPr lang="en-US" sz="1600" dirty="0" err="1"/>
              <a:t>dibawah</a:t>
            </a:r>
            <a:r>
              <a:rPr lang="en-US" sz="1600" dirty="0"/>
              <a:t> 18,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cukup</a:t>
            </a:r>
            <a:r>
              <a:rPr lang="en-US" sz="1600" dirty="0"/>
              <a:t> </a:t>
            </a:r>
            <a:r>
              <a:rPr lang="en-US" sz="1600" dirty="0" err="1"/>
              <a:t>umur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boleh</a:t>
            </a:r>
            <a:r>
              <a:rPr lang="en-US" sz="1600" dirty="0"/>
              <a:t> voting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Jika </a:t>
            </a:r>
            <a:r>
              <a:rPr lang="en-US" sz="1800" dirty="0" err="1"/>
              <a:t>Umur</a:t>
            </a:r>
            <a:r>
              <a:rPr lang="en-US" sz="1800" dirty="0"/>
              <a:t> </a:t>
            </a:r>
            <a:r>
              <a:rPr lang="en-US" sz="1800" dirty="0" err="1"/>
              <a:t>diatas</a:t>
            </a:r>
            <a:r>
              <a:rPr lang="en-US" sz="1800" dirty="0"/>
              <a:t> 18 </a:t>
            </a:r>
            <a:r>
              <a:rPr lang="en-US" sz="1800" dirty="0" err="1"/>
              <a:t>boleh</a:t>
            </a:r>
            <a:r>
              <a:rPr lang="en-US" sz="1800" dirty="0"/>
              <a:t> </a:t>
            </a:r>
            <a:r>
              <a:rPr lang="en-US" sz="1800" dirty="0" err="1"/>
              <a:t>ikut</a:t>
            </a:r>
            <a:r>
              <a:rPr lang="en-US" sz="1800" dirty="0"/>
              <a:t> voting.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7E54-7FAE-1A6D-C0CE-AF9535DE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5B10DCE-5C1F-B140-23AC-EEE1F19D0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539A4E5-DB20-D79E-B98C-DFF21B104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b="1" dirty="0"/>
              <a:t>IF </a:t>
            </a:r>
            <a:r>
              <a:rPr lang="en-US" b="1" dirty="0" err="1"/>
              <a:t>Majemuk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(IF – </a:t>
            </a:r>
            <a:r>
              <a:rPr lang="en-US" b="1" dirty="0" err="1"/>
              <a:t>elif</a:t>
            </a:r>
            <a:r>
              <a:rPr lang="en-US" b="1" dirty="0"/>
              <a:t> - ELSE)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D5727E3-8900-11BE-3953-28D0FB1AE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dicek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berurutan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941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b="1" dirty="0"/>
              <a:t>IF </a:t>
            </a:r>
            <a:r>
              <a:rPr lang="en-US" b="1" dirty="0" err="1"/>
              <a:t>Majemuk</a:t>
            </a:r>
            <a:r>
              <a:rPr lang="en-US" b="1" dirty="0"/>
              <a:t> (Multi-Condition)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1469-EF71-876A-8FC0-92D0169E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A484-E3AA-2C21-5BAD-3AD953FC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b="1" dirty="0"/>
              <a:t>IF </a:t>
            </a:r>
            <a:r>
              <a:rPr lang="en-US" b="1" dirty="0" err="1"/>
              <a:t>Majemuk</a:t>
            </a:r>
            <a:r>
              <a:rPr lang="en-US" b="1" dirty="0"/>
              <a:t> (Multi-Condition)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E02EB-AAD2-BE7F-3FB6-C7DBE1D12D5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1A8F0-4AB2-60E9-07D9-5188433AC6F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dicek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berurutan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Cek </a:t>
            </a:r>
            <a:r>
              <a:rPr lang="en-US" dirty="0" err="1"/>
              <a:t>Kondisi</a:t>
            </a:r>
            <a:r>
              <a:rPr lang="en-US" dirty="0"/>
              <a:t> 1</a:t>
            </a:r>
          </a:p>
          <a:p>
            <a:pPr lvl="1"/>
            <a:r>
              <a:rPr lang="en-US" dirty="0"/>
              <a:t>Jika salah, </a:t>
            </a:r>
            <a:r>
              <a:rPr lang="en-US" dirty="0" err="1"/>
              <a:t>cek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2</a:t>
            </a:r>
          </a:p>
          <a:p>
            <a:pPr lvl="1"/>
            <a:r>
              <a:rPr lang="en-US" dirty="0"/>
              <a:t>Jika </a:t>
            </a:r>
            <a:r>
              <a:rPr lang="en-US" dirty="0" err="1"/>
              <a:t>semua</a:t>
            </a:r>
            <a:r>
              <a:rPr lang="en-US" dirty="0"/>
              <a:t> salah, </a:t>
            </a:r>
            <a:r>
              <a:rPr lang="en-US" dirty="0" err="1"/>
              <a:t>jalankan</a:t>
            </a:r>
            <a:r>
              <a:rPr lang="en-US" dirty="0"/>
              <a:t> Else (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).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FE03F-381E-FD12-034B-766981C5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DCE88-CC78-372C-EC13-37EE3540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99" y="2070829"/>
            <a:ext cx="3382933" cy="478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5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8DD3D760-B434-307B-D875-474D8F7B9BC0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2977178261"/>
              </p:ext>
            </p:extLst>
          </p:nvPr>
        </p:nvGraphicFramePr>
        <p:xfrm>
          <a:off x="5067299" y="171396"/>
          <a:ext cx="6897720" cy="655271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724430">
                  <a:extLst>
                    <a:ext uri="{9D8B030D-6E8A-4147-A177-3AD203B41FA5}">
                      <a16:colId xmlns:a16="http://schemas.microsoft.com/office/drawing/2014/main" val="917884837"/>
                    </a:ext>
                  </a:extLst>
                </a:gridCol>
                <a:gridCol w="1724430">
                  <a:extLst>
                    <a:ext uri="{9D8B030D-6E8A-4147-A177-3AD203B41FA5}">
                      <a16:colId xmlns:a16="http://schemas.microsoft.com/office/drawing/2014/main" val="1804365327"/>
                    </a:ext>
                  </a:extLst>
                </a:gridCol>
                <a:gridCol w="1724430">
                  <a:extLst>
                    <a:ext uri="{9D8B030D-6E8A-4147-A177-3AD203B41FA5}">
                      <a16:colId xmlns:a16="http://schemas.microsoft.com/office/drawing/2014/main" val="3970715164"/>
                    </a:ext>
                  </a:extLst>
                </a:gridCol>
                <a:gridCol w="1724430">
                  <a:extLst>
                    <a:ext uri="{9D8B030D-6E8A-4147-A177-3AD203B41FA5}">
                      <a16:colId xmlns:a16="http://schemas.microsoft.com/office/drawing/2014/main" val="904202669"/>
                    </a:ext>
                  </a:extLst>
                </a:gridCol>
              </a:tblGrid>
              <a:tr h="613947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Fitur 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if-else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if-else </a:t>
                      </a:r>
                      <a:r>
                        <a:rPr lang="en-US" sz="14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if-else</a:t>
                      </a:r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en-US" sz="14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atau</a:t>
                      </a:r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if-</a:t>
                      </a:r>
                      <a:r>
                        <a:rPr lang="en-US" sz="14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elif</a:t>
                      </a:r>
                      <a:r>
                        <a:rPr lang="en-US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-else)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342133"/>
                  </a:ext>
                </a:extLst>
              </a:tr>
              <a:tr h="1903235">
                <a:tc>
                  <a:txBody>
                    <a:bodyPr/>
                    <a:lstStyle/>
                    <a:p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Tujuan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Menjalankan blok kode jika satu kondisi BENAR.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Menjalankan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satu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kode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kondisi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BENAR,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atau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kode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lain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SALAH.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Mengecek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beberapa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kondisi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secara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berurutan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menjalankan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kode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sesuai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kondisi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pertama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BENAR.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375331"/>
                  </a:ext>
                </a:extLst>
              </a:tr>
              <a:tr h="1350683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kondisi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benar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benar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/salah).).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Banyak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kondisi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pertama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kedua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ketiga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hingga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else 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terakhir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24628"/>
                  </a:ext>
                </a:extLst>
              </a:tr>
              <a:tr h="1534867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Eksekusi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kondisi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 salah,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dijalankan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kecuali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else if 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atau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else 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berikutnya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Jika if salah,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kode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 else 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dijalankan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Hanya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satu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kode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dieksekusi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(yang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pertama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kali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terpenuhi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lalu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keluar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seluruh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968818"/>
                  </a:ext>
                </a:extLst>
              </a:tr>
              <a:tr h="982315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Skenario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Cek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tunggal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misal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"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Apakah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nilai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 70?").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Dua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pilihan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misal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"Lulus/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Gagal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 "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Ganjil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Genap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Beberapa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level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keputusan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misal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A, B, C, D, E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nilai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47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{3E71939D-B94B-4419-9CF4-BC777F6F3660}TFe8699e8e-689b-4d7e-abcf-e888fd749829db3118dc_win32-d573b439b56f</Template>
  <TotalTime>45</TotalTime>
  <Words>491</Words>
  <Application>Microsoft Office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Nova</vt:lpstr>
      <vt:lpstr>Biome</vt:lpstr>
      <vt:lpstr>Calibri</vt:lpstr>
      <vt:lpstr>Custom</vt:lpstr>
      <vt:lpstr>Logika Percabangan Dan perulangan</vt:lpstr>
      <vt:lpstr>Apa itu Struktur IF?</vt:lpstr>
      <vt:lpstr>Digunakan jika hanya ada satu tindakan untuk satu kondisi tertentu.</vt:lpstr>
      <vt:lpstr>Struktur if tunggal</vt:lpstr>
      <vt:lpstr>IF Ganda (IF - ELSE)</vt:lpstr>
      <vt:lpstr>IF Ganda (IF - ELSE)</vt:lpstr>
      <vt:lpstr>IF Majemuk  (IF – elif - ELSE)</vt:lpstr>
      <vt:lpstr>IF Majemuk (Multi-Condition)</vt:lpstr>
      <vt:lpstr>IF Majemuk (Multi-Condition)</vt:lpstr>
      <vt:lpstr>DYNAMIC DELIVERY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rizkyrinaldy</dc:creator>
  <cp:lastModifiedBy>rizkyrinaldy</cp:lastModifiedBy>
  <cp:revision>1</cp:revision>
  <dcterms:created xsi:type="dcterms:W3CDTF">2026-01-13T17:06:32Z</dcterms:created>
  <dcterms:modified xsi:type="dcterms:W3CDTF">2026-01-13T17:51:35Z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